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oto Serif Thin"/>
      <p:regular r:id="rId201314"/>
    </p:embeddedFont>
    <p:embeddedFont>
      <p:font typeface="Noto Serif ExtraLight"/>
      <p:regular r:id="rId201315"/>
    </p:embeddedFont>
    <p:embeddedFont>
      <p:font typeface="Noto Serif ExtraBold"/>
      <p:regular r:id="rId201316"/>
    </p:embeddedFont>
    <p:embeddedFont>
      <p:font typeface="Noto Serif Black"/>
      <p:regular r:id="rId201317"/>
    </p:embeddedFont>
    <p:embeddedFont>
      <p:font typeface="Noto Serif Light"/>
      <p:regular r:id="rId201318"/>
    </p:embeddedFont>
    <p:embeddedFont>
      <p:font typeface="Noto Serif"/>
      <p:regular r:id="rId201319"/>
    </p:embeddedFont>
    <p:embeddedFont>
      <p:font typeface="Noto Serif Medium"/>
      <p:regular r:id="rId201320"/>
    </p:embeddedFont>
    <p:embeddedFont>
      <p:font typeface="Noto Serif SemiBold"/>
      <p:regular r:id="rId201321"/>
    </p:embeddedFont>
    <p:embeddedFont>
      <p:font typeface="Noto Serif 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Online Course Completion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Based on Student Learning Activities and Engagement Metrics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06502"/>
            <a:ext cx="3775249" cy="215354"/>
          </a:xfrm>
          <a:prstGeom prst="roundRect">
            <a:avLst>
              <a:gd name="adj" fmla="val 22119"/>
            </a:avLst>
          </a:prstGeom>
          <a:solidFill>
            <a:srgbClr val="E8E6E3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48992"/>
            <a:ext cx="40623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LEARNING ANALYTICS · MACHINE LEARNING · STUDENT SUCCESS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8041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Challenge in Modern Online Education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435819"/>
            <a:ext cx="4722763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Online learning has scaled globally, yet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dropout rates remain critically high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Traditional monitoring relies on manual observation and final assessments — making early intervention nearly impossible.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2214042"/>
            <a:ext cx="2297013" cy="1412453"/>
          </a:xfrm>
          <a:prstGeom prst="roundRect">
            <a:avLst>
              <a:gd name="adj" fmla="val 4018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7780" dir="2700000">
              <a:srgbClr val="ccc4b8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064943" y="2353866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High Dropout Rates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4943" y="2642220"/>
            <a:ext cx="201736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MOOCs report completion rates as low as 5–15%, leaving millions of learners without credentials.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0868" y="2214042"/>
            <a:ext cx="2297013" cy="1412453"/>
          </a:xfrm>
          <a:prstGeom prst="roundRect">
            <a:avLst>
              <a:gd name="adj" fmla="val 4018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7780" dir="2700000">
              <a:srgbClr val="ccc4b8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0692" y="2353866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Late Intervention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0692" y="2642220"/>
            <a:ext cx="201736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monitoring detects risk too late — often only after final assessments reveal failure.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755231"/>
            <a:ext cx="4722763" cy="990228"/>
          </a:xfrm>
          <a:prstGeom prst="roundRect">
            <a:avLst>
              <a:gd name="adj" fmla="val 5731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7780" dir="2700000">
              <a:srgbClr val="ccc4b8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64943" y="3895055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Fragmented Data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64943" y="4183410"/>
            <a:ext cx="444311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Learning activity data exists in silos across LMS platforms, rarely unified for predictive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617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Proposed Solution: Intelligent Completion Prediction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30039"/>
            <a:ext cx="8151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continuously analyses student engagement signals to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predict course completion probability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and assign risk scores — enabling instructors to intervene before learners disengage.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64940"/>
            <a:ext cx="5190753" cy="29413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9708" y="1984028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the System Does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99708" y="2293739"/>
            <a:ext cx="2652861" cy="2066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Collects real-time learning activity data across multiple engagement dimensions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Engineers behavioural and temporal features from raw interaction logs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Runs ML inference to generate completion probability scores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Flags at-risk learners and recommends personalised interventions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Provides instructors with an actionable, real-time analytics dashboard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5735"/>
            <a:ext cx="8151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Student Engagement Metrics &amp; Feature Engineering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650057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model ingests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ten categories of behavioural signals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transformed through feature engineering into predictive inputs.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16026"/>
            <a:ext cx="274662" cy="274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56929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Access &amp; Consistency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51237"/>
            <a:ext cx="39927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Login frequency, study duration, and learning consistency patterns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5121" y="2016026"/>
            <a:ext cx="274662" cy="274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5121" y="2456929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Content Engagement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55121" y="2751237"/>
            <a:ext cx="39927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Video viewing time, course progress percentage, and module completion rate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449910"/>
            <a:ext cx="274662" cy="274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890814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Assessment Activity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185121"/>
            <a:ext cx="39927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Assignment submissions, quiz scores, and attempt frequency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5121" y="3449910"/>
            <a:ext cx="274662" cy="274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5121" y="3890814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Social Interaction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55121" y="4185121"/>
            <a:ext cx="39927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Forum participation, peer responses, and collaborative engagement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six-layer architecture ensures secure, scalable, and intelligent processing of learning data from ingestion to actionable insight.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591321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Architectural Principles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63232" y="2737470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Microservices-based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design for independent scaling of ML and analytics components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RESTful APIs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for seamless LMS integration and third-party data ingestion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Cloud-native deployment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on AWS or GCP with Kubernetes orchestration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Role-based access control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across student, instructor, and admin tiers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End-to-End Workflow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682154"/>
            <a:ext cx="7272486" cy="397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4731" y="2544213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49912" y="2518357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71232" y="2412003"/>
            <a:ext cx="1685107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Inference &amp; Scoring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69597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pipeline operates continuously — new activity data triggers incremental re-scoring, and model performance is monitored with automated retraining cycles to maintain accuracy across diverse learner populations.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34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Machine Learning Pipeline &amp; Algorithms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3084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ML Development Lifecycle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94061"/>
            <a:ext cx="3902943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Dataset Collection: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Historical LMS logs, enrolment records, and assessment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Preprocessing: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Missing value imputation, outlier handling, and normalisation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Feature Selection: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Correlation analysis, PCA, and recursive feature elimination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Model Training: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Cross-validation, hyperparameter tuning via GridSearchCV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Deployment &amp; Retraining: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CI/CD pipelines with drift detection and scheduled retraining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53084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Algorithms &amp; Evaluation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894061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Logistic Regression, Decision Trees, Random Forest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SVM, Gradient Boosting, XGBoost, LightGBM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Neural Networks and ensemble methods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2833092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E8E6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052911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0398" y="2996059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Metrics: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Accuracy, Precision, Recall, F1-Score, ROC-AUC, Sensitivity, Specificity, and Prediction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654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13830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modern, open-source stack delivers a secure, scalable, and high-performance learning analytics platform.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79798"/>
            <a:ext cx="2628602" cy="1555998"/>
          </a:xfrm>
          <a:prstGeom prst="roundRect">
            <a:avLst>
              <a:gd name="adj" fmla="val 3707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7780" dir="270000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8175" y="1621854"/>
            <a:ext cx="411956" cy="411956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433" y="1735113"/>
            <a:ext cx="185365" cy="185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8175" y="2166789"/>
            <a:ext cx="234448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8175" y="2461096"/>
            <a:ext cx="234448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React.js / Angular, D3.js, Chart.js, responsive dashboards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7699" y="1479798"/>
            <a:ext cx="2628602" cy="1555998"/>
          </a:xfrm>
          <a:prstGeom prst="roundRect">
            <a:avLst>
              <a:gd name="adj" fmla="val 3707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7780" dir="270000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99755" y="1621854"/>
            <a:ext cx="411956" cy="411956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3013" y="1735113"/>
            <a:ext cx="185365" cy="1853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9755" y="2166789"/>
            <a:ext cx="234448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399755" y="2461096"/>
            <a:ext cx="234448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Python (Flask / FastAPI), Node.js, REST APIs, JWT authentication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19279" y="1479798"/>
            <a:ext cx="2628602" cy="1555998"/>
          </a:xfrm>
          <a:prstGeom prst="roundRect">
            <a:avLst>
              <a:gd name="adj" fmla="val 3707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7780" dir="2700000">
              <a:srgbClr val="e6ded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1336" y="1621854"/>
            <a:ext cx="411956" cy="411956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4594" y="1735113"/>
            <a:ext cx="185365" cy="1853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1336" y="2166789"/>
            <a:ext cx="234448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61336" y="2461096"/>
            <a:ext cx="234448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PostgreSQL, MongoDB, Redis cache, Apache Kafka for streaming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96119" y="3168774"/>
            <a:ext cx="4009355" cy="1555998"/>
          </a:xfrm>
          <a:prstGeom prst="roundRect">
            <a:avLst>
              <a:gd name="adj" fmla="val 3707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7780" dir="2700000">
              <a:srgbClr val="e6ded2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175" y="3310830"/>
            <a:ext cx="411956" cy="411956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433" y="3424089"/>
            <a:ext cx="185365" cy="1853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8175" y="3855765"/>
            <a:ext cx="37252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ML Stack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8175" y="4150072"/>
            <a:ext cx="37252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Scikit-learn, XGBoost, TensorFlow / PyTorch, MLflow for tracking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38452" y="3168774"/>
            <a:ext cx="4009430" cy="1555998"/>
          </a:xfrm>
          <a:prstGeom prst="roundRect">
            <a:avLst>
              <a:gd name="adj" fmla="val 3707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7780" dir="2700000">
              <a:srgbClr val="e6ded2">
                <a:alpha val="10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80508" y="3310830"/>
            <a:ext cx="411956" cy="411956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3766" y="3424089"/>
            <a:ext cx="185365" cy="1853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80508" y="3855765"/>
            <a:ext cx="37253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Cloud &amp; DevOps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80508" y="4150072"/>
            <a:ext cx="372531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AWS / GCP, Docker, Kubernetes, CI/CD pipelines, Terraform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7137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Advantages &amp; Real-World Applications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287363"/>
            <a:ext cx="4722763" cy="8288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1675" y="1416769"/>
            <a:ext cx="44068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Early At-Risk Identification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111675" y="1652811"/>
            <a:ext cx="440680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Detect disengagement weeks before failure, enabling proactive academic support.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209726"/>
            <a:ext cx="4722763" cy="8288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1675" y="2339132"/>
            <a:ext cx="44068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Improved Completion Rates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111675" y="2575173"/>
            <a:ext cx="440680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Data-driven interventions measurably reduce dropout and improve credential attainment.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132088"/>
            <a:ext cx="4722763" cy="8288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1675" y="3261494"/>
            <a:ext cx="44068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Scalable Across Institutions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111675" y="3497535"/>
            <a:ext cx="440680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Deployable across universities, MOOC providers, corporate training, and government programmes.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54450"/>
            <a:ext cx="4722763" cy="6618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11675" y="4183856"/>
            <a:ext cx="440680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Personalised Learning Support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111675" y="4419898"/>
            <a:ext cx="44068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Tailored recommendations adapt to individual learner behaviour and pace.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24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Challenges, Future Enhancements &amp;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80728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Implementation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36129"/>
            <a:ext cx="3905696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Privacy: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GDPR/FERPA compliance via anonymisation and consent management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Prediction Bias: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Fairness audits and balanced training data across demographics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LMS Integration: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Standardised LTI and xAPI connectors for multi-platform support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Incomplete Data: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Imputation strategies and confidence-weighted predictions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6947" y="1180728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6947" y="1536129"/>
            <a:ext cx="3905696" cy="169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Deep learning and explainable AI (XAI) for transparent predictions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Adaptive learning pathways and real-time intervention systems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Emotion detection and multimodal learning analytics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AI-powered intelligent tutoring and chatbot-based academic assistance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46947" y="3385021"/>
            <a:ext cx="3905696" cy="1202680"/>
          </a:xfrm>
          <a:prstGeom prst="roundRect">
            <a:avLst>
              <a:gd name="adj" fmla="val 4873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474" y="3599185"/>
            <a:ext cx="174427" cy="1395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00427" y="3543449"/>
            <a:ext cx="331269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Conclusion: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This system leverages ML and learning analytics to predict completion, identify at-risk learners early, and deliver scalable, personalised education at scale.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2026-07-28T05:45:10Z</dcterms:created>
  <dcterms:modified xsi:type="dcterms:W3CDTF">2026-07-28T05:45:10Z</dcterms:modified>
</cp:coreProperties>
</file>